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MID-TERM PRESENTATION  ·  2026.04.29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한 장으로 30초 만에 만드는 나만의 3D VTuber 아바타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이미지→3D 변환  ·  표준 VTuber 템플릿 슬라이더 편집  ·  VRM 익스포트 SaaS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1371600" cy="36576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97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 ·  조수빈  ·  최윤수  ·  백승우  ·  장동윤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마스터 템플릿  ·  특징 추출/파이프라인  ·  렌더링 검증/Unity VRM  ·  3D 웹뷰어/슬라이더  ·  백엔드/AWS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0" y="4297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팀프로젝트 중간 발표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8분 발표 + 5분 Q&amp;A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5394960"/>
            <a:ext cx="10698480" cy="36576"/>
          </a:xfrm>
          <a:prstGeom prst="rect">
            <a:avLst/>
          </a:prstGeom>
          <a:solidFill>
            <a:srgbClr val="3A3F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github.com/&lt;org&gt;/virtual-avatar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notion.so/&lt;workspace&gt;/virtual-avatar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· 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소개 — 우리는 무엇을 만드는가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338560" cy="868680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정의   </a:t>
            </a:r>
            <a:pPr indent="0" marL="0">
              <a:buNone/>
            </a:pPr>
            <a:r>
              <a:rPr lang="en-US" sz="16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사진을 3D로 변환하고, 표준 VTuber 템플릿 슬라이더로 편집해 VRM 파일로 즉시 활동할 수 있는 웹 SaaS 플랫폼.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089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혁신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1장 → 30초 안에 3D VTuber 아바타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지식 불필요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1089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자유도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4290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60+ 블렌드셰이프 슬라이더로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표정·체형·의상 미세 조정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7091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보장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5029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아바타의 완전한 저작권을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소유 (VRM 익스포트)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43484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709160"/>
            <a:ext cx="146304" cy="146304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호환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9400" y="5029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+ UniVRM 기반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 · VSeeFace 등 즉시 연동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  </a:t>
            </a:r>
            <a:pPr indent="0" marL="0">
              <a:buNone/>
            </a:pPr>
            <a:r>
              <a:rPr lang="en-US" sz="1200" i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수백만 원·수개월이 걸리던 VTuber 아바타 제작을, AI와 표준 템플릿으로 15분·2.5만 원에 가능하게 한다.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·  WHY &amp;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&amp; MVP 범위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 ·  Pain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91440" cy="9144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0312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VTuber 활동 인구 약 5만 명, 글로벌 가상 인플루언서 시장 폭발적 성장 (CAGR ~57%, $18B→$270B)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91440" cy="9144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1752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오리지널 아바타 의뢰 비용 80~200만 원, 대기 2~3개월 — 진입 장벽이 시장 성장을 못 따라감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78224"/>
            <a:ext cx="91440" cy="9144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31920"/>
            <a:ext cx="5440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기성 AI 3D 도구(Meshy/Tripo 등)는 생성만 가능, VTuber용 편집·VRM 출력 부재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18288" cy="42976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 ·  MVP 정의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103120"/>
            <a:ext cx="5349240" cy="868680"/>
          </a:xfrm>
          <a:prstGeom prst="rect">
            <a:avLst/>
          </a:prstGeom>
          <a:solidFill>
            <a:srgbClr val="1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148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"사진 → 3D 생성 → 슬라이더 편집 →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→ 유사도 검증 → VRM 익스포트"가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끊김 없이 동작하는 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Must-Have (MVP 포함)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 ·  VARCO 3D 생성  ·  슬라이더 편집(20~30종)  ·  VRM 익스포트+자동 리깅  ·  버전 5개  ·  유사도 검증(코사인 85%)  ·  OAuth  ·  결제(건당)  ·  NSFW·실존인물 필터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 이후 (의도적 제외)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525780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편집  ·  텍스처/의상 편집  ·  FBX/GLB  ·  라이브 스트리밍 즉시 연동  ·  마켓플레이스  ·  모바일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· 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구조 — 9단계 파이프라인 &amp; 백엔드 인프라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2872" y="1691640"/>
            <a:ext cx="2340864" cy="256032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9" name="Text 7"/>
          <p:cNvSpPr/>
          <p:nvPr/>
        </p:nvSpPr>
        <p:spPr>
          <a:xfrm>
            <a:off x="572872" y="169164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0040" y="1691640"/>
            <a:ext cx="4828032" cy="256032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11" name="Text 9"/>
          <p:cNvSpPr/>
          <p:nvPr/>
        </p:nvSpPr>
        <p:spPr>
          <a:xfrm>
            <a:off x="3060040" y="1691640"/>
            <a:ext cx="4828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ANALYZE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34376" y="1691640"/>
            <a:ext cx="2340864" cy="256032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13" name="Text 11"/>
          <p:cNvSpPr/>
          <p:nvPr/>
        </p:nvSpPr>
        <p:spPr>
          <a:xfrm>
            <a:off x="8034376" y="169164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 &amp; EDIT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21544" y="1691640"/>
            <a:ext cx="1097280" cy="256032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21544" y="1691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2872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600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18" name="Text 16"/>
          <p:cNvSpPr/>
          <p:nvPr/>
        </p:nvSpPr>
        <p:spPr>
          <a:xfrm>
            <a:off x="68260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736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736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NSFW 필터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3012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6456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6184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24" name="Text 22"/>
          <p:cNvSpPr/>
          <p:nvPr/>
        </p:nvSpPr>
        <p:spPr>
          <a:xfrm>
            <a:off x="1926184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1320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GLB 생성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71320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3D 모델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36596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28" name="Shape 26"/>
          <p:cNvSpPr/>
          <p:nvPr/>
        </p:nvSpPr>
        <p:spPr>
          <a:xfrm>
            <a:off x="3060040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9768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30" name="Text 28"/>
          <p:cNvSpPr/>
          <p:nvPr/>
        </p:nvSpPr>
        <p:spPr>
          <a:xfrm>
            <a:off x="3169768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14904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정면/측면 렌더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14904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비교용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80180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34" name="Shape 32"/>
          <p:cNvSpPr/>
          <p:nvPr/>
        </p:nvSpPr>
        <p:spPr>
          <a:xfrm>
            <a:off x="4303624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13352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36" name="Text 34"/>
          <p:cNvSpPr/>
          <p:nvPr/>
        </p:nvSpPr>
        <p:spPr>
          <a:xfrm>
            <a:off x="4413352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58488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Morph 매핑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58488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→ 슬라이더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23764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40" name="Shape 38"/>
          <p:cNvSpPr/>
          <p:nvPr/>
        </p:nvSpPr>
        <p:spPr>
          <a:xfrm>
            <a:off x="5547208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56936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42" name="Text 40"/>
          <p:cNvSpPr/>
          <p:nvPr/>
        </p:nvSpPr>
        <p:spPr>
          <a:xfrm>
            <a:off x="5656936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02072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Bone Scale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02072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체형 비율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67348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46" name="Shape 44"/>
          <p:cNvSpPr/>
          <p:nvPr/>
        </p:nvSpPr>
        <p:spPr>
          <a:xfrm>
            <a:off x="6790792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00520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48" name="Text 46"/>
          <p:cNvSpPr/>
          <p:nvPr/>
        </p:nvSpPr>
        <p:spPr>
          <a:xfrm>
            <a:off x="690052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45656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45656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피부·눈동자·헤어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910932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52" name="Shape 50"/>
          <p:cNvSpPr/>
          <p:nvPr/>
        </p:nvSpPr>
        <p:spPr>
          <a:xfrm>
            <a:off x="8034376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44104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54" name="Text 52"/>
          <p:cNvSpPr/>
          <p:nvPr/>
        </p:nvSpPr>
        <p:spPr>
          <a:xfrm>
            <a:off x="8144104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89240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검증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089240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코사인 ≥ 85%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154516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58" name="Shape 56"/>
          <p:cNvSpPr/>
          <p:nvPr/>
        </p:nvSpPr>
        <p:spPr>
          <a:xfrm>
            <a:off x="9277960" y="2011680"/>
            <a:ext cx="1097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87688" y="2121408"/>
            <a:ext cx="384048" cy="384048"/>
          </a:xfrm>
          <a:prstGeom prst="ellipse">
            <a:avLst/>
          </a:prstGeom>
          <a:solidFill>
            <a:srgbClr val="D8D3E8"/>
          </a:solidFill>
          <a:ln/>
        </p:spPr>
      </p:sp>
      <p:sp>
        <p:nvSpPr>
          <p:cNvPr id="60" name="Text 58"/>
          <p:cNvSpPr/>
          <p:nvPr/>
        </p:nvSpPr>
        <p:spPr>
          <a:xfrm>
            <a:off x="9387688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332824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편집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332824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&lt; 1초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398100" y="2542032"/>
            <a:ext cx="105156" cy="128016"/>
          </a:xfrm>
          <a:prstGeom prst="rightTriangle">
            <a:avLst/>
          </a:prstGeom>
          <a:solidFill>
            <a:srgbClr val="8B7FB8"/>
          </a:solidFill>
          <a:ln/>
        </p:spPr>
      </p:sp>
      <p:sp>
        <p:nvSpPr>
          <p:cNvPr id="64" name="Shape 62"/>
          <p:cNvSpPr/>
          <p:nvPr/>
        </p:nvSpPr>
        <p:spPr>
          <a:xfrm>
            <a:off x="10521544" y="2011680"/>
            <a:ext cx="1097280" cy="118872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31272" y="2121408"/>
            <a:ext cx="384048" cy="384048"/>
          </a:xfrm>
          <a:prstGeom prst="ellipse">
            <a:avLst/>
          </a:prstGeom>
          <a:solidFill>
            <a:srgbClr val="8B7FB8"/>
          </a:solidFill>
          <a:ln/>
        </p:spPr>
      </p:sp>
      <p:sp>
        <p:nvSpPr>
          <p:cNvPr id="66" name="Text 64"/>
          <p:cNvSpPr/>
          <p:nvPr/>
        </p:nvSpPr>
        <p:spPr>
          <a:xfrm>
            <a:off x="10631272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576408" y="25603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VRM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0576408" y="288036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리깅 출력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670152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913736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157320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400904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644488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888072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131656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0375240" y="2441448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02920" y="3429000"/>
            <a:ext cx="11338560" cy="457200"/>
          </a:xfrm>
          <a:prstGeom prst="rect">
            <a:avLst/>
          </a:prstGeom>
          <a:solidFill>
            <a:srgbClr val="F7F7FA"/>
          </a:solidFill>
          <a:ln w="12700">
            <a:solidFill>
              <a:srgbClr val="8B7FB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920" y="3429000"/>
            <a:ext cx="73152" cy="4572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79" name="Text 77"/>
          <p:cNvSpPr/>
          <p:nvPr/>
        </p:nvSpPr>
        <p:spPr>
          <a:xfrm>
            <a:off x="77724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설계 결정 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결과는 "참조용", 최종 편집은 검증된 마스터 VTuber 템플릿(VRM 0.0)에서 수행 → VRM 호환성 100% + 메시 깨짐 방지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0292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처리 인프라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545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45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83" name="Text 81"/>
          <p:cNvSpPr/>
          <p:nvPr/>
        </p:nvSpPr>
        <p:spPr>
          <a:xfrm>
            <a:off x="6094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20359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1547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547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87" name="Text 85"/>
          <p:cNvSpPr/>
          <p:nvPr/>
        </p:nvSpPr>
        <p:spPr>
          <a:xfrm>
            <a:off x="22096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API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22096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CRUD · 인증 · 결제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6361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7549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549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92" name="Text 90"/>
          <p:cNvSpPr/>
          <p:nvPr/>
        </p:nvSpPr>
        <p:spPr>
          <a:xfrm>
            <a:off x="38098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DB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38098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+ Prisma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2363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3551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3551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97" name="Text 95"/>
          <p:cNvSpPr/>
          <p:nvPr/>
        </p:nvSpPr>
        <p:spPr>
          <a:xfrm>
            <a:off x="54100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/ Kafka Q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54100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큐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68365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9553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553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02" name="Text 100"/>
          <p:cNvSpPr/>
          <p:nvPr/>
        </p:nvSpPr>
        <p:spPr>
          <a:xfrm>
            <a:off x="70102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Worker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70102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· BiSeNet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4367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85555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555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07" name="Text 105"/>
          <p:cNvSpPr/>
          <p:nvPr/>
        </p:nvSpPr>
        <p:spPr>
          <a:xfrm>
            <a:off x="86104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WebSocket / SSE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86104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 전달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10036912" y="4704588"/>
            <a:ext cx="118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10155784" y="4480560"/>
            <a:ext cx="148132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155784" y="4480560"/>
            <a:ext cx="1481328" cy="45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210648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 / Redis 저장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10210648" y="49194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영속화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0292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 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· TypeScript · Three.js + R3F + @pixiv/three-vrm · Spring Boot · Redis/Kafka · WebSocket/SSE · PostgreSQL · Python (MediaPipe·BiSeNet) · VARCO 3D · Blender · Unity + UniVRM · AWS (EC2·RDS·S3)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· 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개발 상세 — 진행 현황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338560" cy="548640"/>
          </a:xfrm>
          <a:prstGeom prst="rect">
            <a:avLst/>
          </a:prstGeom>
          <a:solidFill>
            <a:srgbClr val="1B1F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위치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Sprint 0 (2주) 완료  →  Phase 1-1 (4주) 진행 중   ·   </a:t>
            </a:r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미완료, 프로토타입 v0.5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Sprint 0 PoC — 완료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VRM 0.0 표준 채택 + Blender 마스터 템플릿 모델 제작 (블렌드쉐입 이식)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블렌드쉐입 Min/Max 키 데이터 매핑 시스템 구축 완료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조수빈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구조 설계 + 9개 기본 이목구비 특징 추출 구현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최윤수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+ 3D GLB 렌더링 + Depth Map 결합한 특징 추출/검증 동작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백승우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웹뷰어 구축 → 슬라이더로 3D 얼굴 실시간 편집 동작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장동윤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인프라(EC2·RDS·S3) + Spring Boot CRUD/인증 API 1차 완성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18288" cy="3657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1-1 — 9단계 파이프라인 상태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880360"/>
            <a:ext cx="164592" cy="164592"/>
          </a:xfrm>
          <a:prstGeom prst="ellipse">
            <a:avLst/>
          </a:prstGeom>
          <a:solidFill>
            <a:srgbClr val="8B7FB8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7889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01-03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→ GLB → 렌더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3300984"/>
            <a:ext cx="164592" cy="164592"/>
          </a:xfrm>
          <a:prstGeom prst="ellipse">
            <a:avLst/>
          </a:prstGeom>
          <a:solidFill>
            <a:srgbClr val="8B7FB8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2095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3209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이목구비 추출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0" y="32095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9종 동작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721608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6301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3630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헤어/악세서리 추출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0" y="3630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BiSeNet 진행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142232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4050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05-06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매칭 / Morph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0" y="4050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멀티뷰 통합 중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4562856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471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44714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검증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332720" y="44714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 Map 검증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983480"/>
            <a:ext cx="164592" cy="164592"/>
          </a:xfrm>
          <a:prstGeom prst="ellipse">
            <a:avLst/>
          </a:prstGeom>
          <a:solidFill>
            <a:srgbClr val="8B7FB8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48920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8952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슬라이더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33272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동작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5404104"/>
            <a:ext cx="164592" cy="164592"/>
          </a:xfrm>
          <a:prstGeom prst="ellipse">
            <a:avLst/>
          </a:prstGeom>
          <a:solidFill>
            <a:srgbClr val="F7F7FA"/>
          </a:solidFill>
          <a:ln w="19050">
            <a:solidFill>
              <a:srgbClr val="8B7F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531266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5312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VRM 익스포트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332720" y="53126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워커 구현 예정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5943600"/>
            <a:ext cx="11338560" cy="384048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594360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  </a:t>
            </a:r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→ 3D 변환 → 9개 이목구비 특징 추출 → 마스터 템플릿 매칭 → 웹뷰어에서 슬라이더로 얼굴 실시간 편집까지 동작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· 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팀원별 역할 분담 &amp; 기여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시 1분 분량으로 각 팀원이 맡은 영역과 현재까지의 기여를 설명하는 구간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338560" cy="320040"/>
          </a:xfrm>
          <a:prstGeom prst="rect">
            <a:avLst/>
          </a:prstGeom>
          <a:solidFill>
            <a:srgbClr val="1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011680"/>
            <a:ext cx="1069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201168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87952" y="201168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영역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57032" y="201168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현재까지의 기여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1133856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496312"/>
            <a:ext cx="54864" cy="34747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331720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331720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마스터 템플릿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377440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VRM 0.0 표준 채택,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Blender 기반 마스터 모델 제작,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블렌드쉐입 이식 + Min/Max 데이터 매핑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2377440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템플릿 모델 완성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블렌드쉐입 이식 + 키 데이터 매핑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웹뷰어용 모델 인계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08376"/>
            <a:ext cx="11338560" cy="676656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172968"/>
            <a:ext cx="54864" cy="34747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008376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조수빈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3008376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추출 / 파이프라인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054096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2D→3D 변환 후 멀티뷰 특징 추출,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구조 설계,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매칭 + 슬라이더 초기값 반환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3054096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구조 설계 + 코드 작성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기본 이목구비 추출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헤어/악세서리(BiSeNet) 진행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685032"/>
            <a:ext cx="1133856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849624"/>
            <a:ext cx="54864" cy="34747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68503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최윤수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83080" y="3685032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 검증 / Unity VRM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730752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GLB 렌더링 + Depth Map 검증,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+ UniVRM 익스포트 워커,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대시보드 / 버전 관리 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92440" y="3730752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+ 렌더링 결합 특징 추출 동작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 Map 결과 검증 기능 구현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멀티뷰 통합 추출 작업 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361688"/>
            <a:ext cx="11338560" cy="676656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526280"/>
            <a:ext cx="54864" cy="34747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361688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백승우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783080" y="4361688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웹뷰어 / 슬라이더 편집기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4407408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Three.js 기반 웹 3D 뷰어,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템플릿 모델 로드,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 ↔ 블렌드쉐입 실시간 연동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2440" y="44074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웹뷰어 구축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 마스터 모델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슬라이더로 얼굴 실시간 편집 동작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038344"/>
            <a:ext cx="1133856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202936"/>
            <a:ext cx="54864" cy="34747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038344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장동윤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783080" y="5038344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/ AWS 인프라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360" y="5084064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API (CRUD·인증·결제),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/ Kafka 큐 + WebSocket·SSE,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워커 연동, AWS(EC2·RDS·S3)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92440" y="5084064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인프라(EC2·RDS·S3) 셋업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CRUD/인증 API 1차 완성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큐 기반 워커 연동 PoC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58521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흐름   </a:t>
            </a:r>
            <a:pPr indent="0" marL="0">
              <a:buNone/>
            </a:pPr>
            <a:r>
              <a:rPr lang="en-US" sz="1050" i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이현지(템플릿 모델) → 백승우(웹뷰어 슬라이더 연결) · 조수빈(특징 추출) → 최윤수(검증·VRM 출력) · 장동윤(API·인프라가 전체를 연결)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·  ISSUES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&amp; 논의 사항 — 도움이 필요한 지점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진도 점검 결과 도출된 이슈와 해소 방안 후보 — Q&amp;A 시 피드백 요청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이슈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1338560" cy="292608"/>
          </a:xfrm>
          <a:prstGeom prst="rect">
            <a:avLst/>
          </a:prstGeom>
          <a:solidFill>
            <a:srgbClr val="1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77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23774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237744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대응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11338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00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다양성 부족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2734056"/>
            <a:ext cx="960120" cy="2560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73405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67004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MVP는 3종 유지, 베타 후 Phase 2에서 5종+ 확장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54096"/>
            <a:ext cx="1133856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540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VARCO API 의존 리스크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3118104"/>
            <a:ext cx="960120" cy="256032"/>
          </a:xfrm>
          <a:prstGeom prst="rect">
            <a:avLst/>
          </a:prstGeom>
          <a:solidFill>
            <a:srgbClr val="1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311810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305409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Meshy / Tripo 멀티벤더 백업 코드 골격 확보 중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38144"/>
            <a:ext cx="11338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43814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headless 워커 동시 처리 한계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3502152"/>
            <a:ext cx="960120" cy="2560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350215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43814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Docker화 + BullMQ 재시도 + 단일→오토스케일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822192"/>
            <a:ext cx="1133856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8221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저사양 GPU에서 morph 50개 프레임 드랍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97880" y="3886200"/>
            <a:ext cx="960120" cy="256032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38862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82219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LOD / mesh 단순화 / 저사양 fallback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11338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206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헤어/의상 AI 생성 불가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7880" y="4270248"/>
            <a:ext cx="960120" cy="256032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37" name="Text 35"/>
          <p:cNvSpPr/>
          <p:nvPr/>
        </p:nvSpPr>
        <p:spPr>
          <a:xfrm>
            <a:off x="5897880" y="427024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420624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VRoid 스타일 프리셋 채택, 만족도 사전 검증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4818888"/>
            <a:ext cx="11338560" cy="1051560"/>
          </a:xfrm>
          <a:prstGeom prst="rect">
            <a:avLst/>
          </a:prstGeom>
          <a:solidFill>
            <a:srgbClr val="D8D3E8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9103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논의 요청 사항 — 피드백 받고 싶은 부분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40" y="518464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 템플릿 3종으로 시작하는 범위가 적절한지, 추가 시 어떤 스타일이 우선인지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 결제 전환을 위한 무료 샘플 정책: 워터마크 vs 시간 제한 중 더 효과적인 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 베타 50명 모집 채널: SOOP / 디스코드 / 트위터 중 가장 실효적인 것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· 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 + 자료 공유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914400" cy="27432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Virtual Avatar  ·  중간 발표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일정 (총 약 6주)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73152" cy="13716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128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1-2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  ·  서비스 완성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4203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OAuth 인증  ·  크레딧/결제 (Stripe·토스)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검증 게이트  ·  NSFW·실존인물 필터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대시보드  ·  Unity VRM 익스포트 자동화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611880"/>
            <a:ext cx="73152" cy="118872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1-3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 ·  QA &amp; 런칭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0507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  ·  베타 (VTuber 50명)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최적화 (LOD·KTX2)  ·  부하 테스트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평가 지표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3492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3,000명  ·  생성 완료율 60%+  ·  샘플→결제 전환율 8%+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슬라이더 반응 &lt; 1초 (P95)  ·  VRM 호환률 99%+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5440680" cy="4572000"/>
          </a:xfrm>
          <a:prstGeom prst="rect">
            <a:avLst/>
          </a:prstGeom>
          <a:solidFill>
            <a:srgbClr val="1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공유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평가·피드백 시 직접 들어가서 보실 수 있습니다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697480"/>
            <a:ext cx="5029200" cy="18288"/>
          </a:xfrm>
          <a:prstGeom prst="rect">
            <a:avLst/>
          </a:prstGeom>
          <a:solidFill>
            <a:srgbClr val="3A3F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github.com/&lt;org&gt;/virtual-avatar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34290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apps/web (Next.js)  ·  apps/api (NestJS)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apps/worker-mediapipe (Python)  ·  apps/worker-unity (Unity)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packages/templates (자산)  ·  docs/ (PRD·ADR)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9400" y="4434840"/>
            <a:ext cx="5029200" cy="18288"/>
          </a:xfrm>
          <a:prstGeom prst="rect">
            <a:avLst/>
          </a:prstGeom>
          <a:solidFill>
            <a:srgbClr val="3A3F5C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notion.so/&lt;workspace&gt;/virtual-avatar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5166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Sprint Kanban  ·  회의록  ·  의사결정 로그(ADR)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리서치·인터뷰  ·  QA 체크리스트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5852160"/>
            <a:ext cx="5029200" cy="18288"/>
          </a:xfrm>
          <a:prstGeom prst="rect">
            <a:avLst/>
          </a:prstGeom>
          <a:solidFill>
            <a:srgbClr val="3A3F5C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943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Discord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#general  ·  #dev  ·  #design  ·  #qa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 ·  Q&amp;A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시장과 문제는 명확하다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7614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VTuber 시장은 폭발적으로 성장하지만 진입장벽(시간·비용·저작권)은 그대로.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포지션은 비어 있다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37216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+ 슬라이더 편집 + VRM 출력 + 사용자 저작권을 모두 충족하는 제품은 현재 없다.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3736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기술 리스크는 해소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681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5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통과, 프로토타입 v0.5에서 핵심 흐름 end-to-end 동작. 남은 6주는 결제·인증·QA·베타.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371600" cy="36576"/>
          </a:xfrm>
          <a:prstGeom prst="rect">
            <a:avLst/>
          </a:prstGeom>
          <a:solidFill>
            <a:srgbClr val="8B7FB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5715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github.com/&lt;org&gt;/virtual-avatar
</a:t>
            </a:r>
            <a:pPr indent="0" marL="0">
              <a:buNone/>
            </a:pPr>
            <a:r>
              <a:rPr lang="en-US" sz="1000" b="1" dirty="0">
                <a:solidFill>
                  <a:srgbClr val="8B7F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notion.so/&lt;workspace&gt;/virtual-avatar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Avatar - 중간 발표</dc:title>
  <dc:subject>PptxGenJS Presentation</dc:subject>
  <dc:creator>PptxGenJS</dc:creator>
  <cp:lastModifiedBy>PptxGenJS</cp:lastModifiedBy>
  <cp:revision>1</cp:revision>
  <dcterms:created xsi:type="dcterms:W3CDTF">2026-04-29T16:42:29Z</dcterms:created>
  <dcterms:modified xsi:type="dcterms:W3CDTF">2026-04-29T16:42:29Z</dcterms:modified>
</cp:coreProperties>
</file>